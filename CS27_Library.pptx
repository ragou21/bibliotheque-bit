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457200"/>
            <a:ext cx="2194560" cy="2194560"/>
          </a:xfrm>
          <a:prstGeom prst="ellipse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0" y="45720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📚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CS27 - The Relational Model &amp; Databases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5943600" cy="16459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108960"/>
            <a:ext cx="5943600" cy="1645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Institute of Technology
</a:t>
            </a:r>
            <a:pPr algn="ctr" indent="0" marL="0">
              <a:buNone/>
            </a:pPr>
            <a:r>
              <a:rPr lang="en-US" sz="13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Kweyakie Afi Blebo
</a:t>
            </a:r>
            <a:pPr algn="ctr" indent="0" marL="0">
              <a:buNone/>
            </a:pPr>
            <a:r>
              <a:rPr lang="en-US" sz="13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March 15, 2026  |  Scenario 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CS27 - Library Management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16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N'ZOMBIE Rodrigue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Leader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16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SOULAMA Ulrich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574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30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DRABO Amine Farel Isao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423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0574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130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SAWADOGO Azael Wend-Panga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423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Implementation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718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044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OUEDRAOGO Abdoulaye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337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&amp; Aggregates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718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044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 H. Noeldinolippeu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337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Video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38862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0" y="3886200"/>
            <a:ext cx="91440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2788920" y="3959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KOANDA Cheikib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88920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Testing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Manage books, authors and categories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0428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Register and track library members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7977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Record book borrowings and returns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5526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Calculate and manage late fees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7307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Generate activity reports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143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23560" y="1645920"/>
            <a:ext cx="3108960" cy="47548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164592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23560" y="2240280"/>
            <a:ext cx="3108960" cy="475488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22402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23560" y="2834640"/>
            <a:ext cx="3108960" cy="475488"/>
          </a:xfrm>
          <a:prstGeom prst="rect">
            <a:avLst/>
          </a:prstGeom>
          <a:solidFill>
            <a:srgbClr val="1E5FA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28346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23560" y="3429000"/>
            <a:ext cx="3108960" cy="475488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34290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23560" y="4023360"/>
            <a:ext cx="3108960" cy="475488"/>
          </a:xfrm>
          <a:prstGeom prst="rect">
            <a:avLst/>
          </a:prstGeom>
          <a:solidFill>
            <a:srgbClr val="5D7A9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23560" y="40233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Entities &amp; Attributes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60604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auteur_id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prenom, nationalite, date_naissance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097280"/>
            <a:ext cx="260604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097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15361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categorie_id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84708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description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1097280"/>
            <a:ext cx="260604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097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5361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livre_id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84708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isbn, auteur_id (FK), categorie_id (FK), annee_publi, editeur, nb_exemplaires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0" y="30632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45920" y="3063240"/>
            <a:ext cx="260604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30632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35021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membre_id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38130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prenom, email (UNIQUE), telephone, adresse, date_adhesion, actif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30632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063240"/>
            <a:ext cx="260604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0632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5021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emprunt_id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8130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membre_id (FK), livre_id (FK), date_emprunt, date_retour_prevue, date_retour_reelle, amende_montant, amende_payee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Schema Diagram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841248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Relationships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2194560"/>
                <a:gridCol w="3108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Relationship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Foreign Key in...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Plain English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auteurs → livres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 : 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livres.auteur_id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One author can write many books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categories → livres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 : 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livres.categorie_id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One category groups many books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membres → emprunts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 : 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emprunts.membre_id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One member can borrow many books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livres → emprunts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 : 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emprunts.livre_id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One book can be borrowed many times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337560"/>
            <a:ext cx="8412480" cy="14173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7947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foreign keys use ON DELETE RESTRICT to protect data integrity.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UPDATE CASCADE ensures changes propagate automatically across related tables.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Normalization (UNF → 3NF)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35661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(Unnormalized)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table with everything: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member_name, email, book_title,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author_name, borrow_date, fine...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clear primary key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Repeated data everywhere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920240" cy="3566160"/>
          </a:xfrm>
          <a:prstGeom prst="rect">
            <a:avLst/>
          </a:prstGeom>
          <a:solidFill>
            <a:srgbClr val="2E86C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92024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unique ID per row.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repeating groups.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Each cell = one atomic value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Primary key defined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1920240" cy="356616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192024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members, books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authors into own tables.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 attribute depends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fully on the whole PK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partial dependencies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20840" y="1143000"/>
            <a:ext cx="1920240" cy="35661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92024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categories and fines.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transitive dependencies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 clean normalized tables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Final schema achieved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MySQL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36576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emprunts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emprunt_id    INT  NOT NULL AUTO_INCREMENT,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membre_id     INT 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livre_id      INT 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date_emprunt  DATE NOT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(CURRENT_DATE),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date_retour_prevue DATE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date_retour_reelle 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amende_montant DECIMAL(8,2) DEFAULT 0.00,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amende_payee   BOOLEAN DEFAULT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(emprunt_id),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(membre_id)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membres(membre_id)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RESTRICT ON UPDATE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(livre_id)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livres(livre_id)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RESTRICT ON UPDATE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(date_retour_prevue &gt; date_emprunt)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0" y="1097280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97280"/>
            <a:ext cx="9144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115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389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AUTO_INCREMENT on every table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801368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801368"/>
            <a:ext cx="9144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8196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0939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enforced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505456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2505456"/>
            <a:ext cx="9144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25237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798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protected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209544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3209544"/>
            <a:ext cx="9144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32278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502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constraint on dates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3913632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3913632"/>
            <a:ext cx="9144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email &amp; book ISBN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Complex Query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Members with unpaid fines over 200 FCFA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24688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002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m.nom, m.prenom, m.email,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COUNT(e.emprunt_id)                          AS total_borrowings,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SUM(e.amende_montant)                         AS total_fines,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e.amende_payee =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THEN e.amende_montant ELSE 0 END)    AS unpaid_fines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membres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emprunts e ON m.membre_id = e.membre_id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e.amende_montant &gt;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m.membre_id, m.nom, m.prenom, m.email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unpaid_fines &gt; 200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unpaid_fines DESC;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4160520"/>
            <a:ext cx="1965960" cy="502920"/>
          </a:xfrm>
          <a:prstGeom prst="rect">
            <a:avLst/>
          </a:prstGeom>
          <a:solidFill>
            <a:srgbClr val="1E5FA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Link members + borrowings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4160520"/>
            <a:ext cx="1965960" cy="5029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— Group results per member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4160520"/>
            <a:ext cx="1965960" cy="50292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— Calculate only unpaid fines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4160520"/>
            <a:ext cx="1965960" cy="5029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— Filter groups (&gt; 200 FCFA)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CS27 | BIT |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Deliverables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04672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library_db.sql + README.md — fully documented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04672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109728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6700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slides covering design, normalization and implementation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04672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109728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76732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 — Live MySQL demo — All members speak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046720" cy="41148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480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March 15, 2026 at 11:55 PM  |  Submit: Group Leader only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CS27 — Burkina Institute of Technology | blebo.kweyakie@bit.bf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CS27 - Library Management System</dc:title>
  <dc:subject>PptxGenJS Presentation</dc:subject>
  <dc:creator>PptxGenJS</dc:creator>
  <cp:lastModifiedBy>PptxGenJS</cp:lastModifiedBy>
  <cp:revision>1</cp:revision>
  <dcterms:created xsi:type="dcterms:W3CDTF">2026-03-13T11:19:35Z</dcterms:created>
  <dcterms:modified xsi:type="dcterms:W3CDTF">2026-03-13T11:19:35Z</dcterms:modified>
</cp:coreProperties>
</file>