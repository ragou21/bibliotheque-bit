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457200"/>
            <a:ext cx="2194560" cy="2194560"/>
          </a:xfrm>
          <a:prstGeom prst="ellipse">
            <a:avLst/>
          </a:prstGeom>
          <a:solidFill>
            <a:srgbClr val="1A3A6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0" y="45720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📚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5943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Management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CS27 - The Relational Model &amp; Databases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5943600" cy="164592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3108960"/>
            <a:ext cx="5943600" cy="164592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Burkina Institute of Technology
</a:t>
            </a:r>
            <a:pPr algn="ctr" indent="0" marL="0">
              <a:buNone/>
            </a:pPr>
            <a:r>
              <a:rPr lang="en-US" sz="13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Kweyakie Afi Blebo
</a:t>
            </a:r>
            <a:pPr algn="ctr" indent="0" marL="0">
              <a:buNone/>
            </a:pPr>
            <a:r>
              <a:rPr lang="en-US" sz="13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Deadline: March 15, 2026  |  Scenario 4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1" name="Text 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CS27 - Library Management System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0233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91440" cy="6858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16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SOULAMA Ulrich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40233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43000"/>
            <a:ext cx="91440" cy="6858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216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N'ZOMBIE Rodrigue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15087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057400"/>
            <a:ext cx="40233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057400"/>
            <a:ext cx="91440" cy="6858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1305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DRABO Amine Farel Isao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24231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057400"/>
            <a:ext cx="40233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057400"/>
            <a:ext cx="91440" cy="6858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21305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SAWADOGO Azael Wend-Panga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24231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971800"/>
            <a:ext cx="40233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971800"/>
            <a:ext cx="91440" cy="6858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044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OUEDRAOGO Abdoulaye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33375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971800"/>
            <a:ext cx="40233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971800"/>
            <a:ext cx="91440" cy="6858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3044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KERE H. Noeldinolippeu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83480" y="33375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560320" y="3886200"/>
            <a:ext cx="40233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560320" y="3886200"/>
            <a:ext cx="91440" cy="6858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0" name="Text 28"/>
          <p:cNvSpPr/>
          <p:nvPr/>
        </p:nvSpPr>
        <p:spPr>
          <a:xfrm>
            <a:off x="2788920" y="39593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KOANDA Cheikib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788920" y="42519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33" name="Text 3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CS27 | BIT | 2025-2026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50292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801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Management System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 Manage books, authors and categories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304288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 Register and track library members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779776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 Record book borrowings and returns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255264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 Calculate and manage late fees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730752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 Generate activity reports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23560" y="11430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Entities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623560" y="1645920"/>
            <a:ext cx="3108960" cy="475488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23560" y="1645920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auteurs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623560" y="2240280"/>
            <a:ext cx="3108960" cy="475488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623560" y="2240280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623560" y="2834640"/>
            <a:ext cx="3108960" cy="475488"/>
          </a:xfrm>
          <a:prstGeom prst="rect">
            <a:avLst/>
          </a:prstGeom>
          <a:solidFill>
            <a:srgbClr val="1E5FA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23560" y="2834640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623560" y="3429000"/>
            <a:ext cx="3108960" cy="475488"/>
          </a:xfrm>
          <a:prstGeom prst="rect">
            <a:avLst/>
          </a:prstGeom>
          <a:solidFill>
            <a:srgbClr val="F39C1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623560" y="3429000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membres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623560" y="4023360"/>
            <a:ext cx="3108960" cy="475488"/>
          </a:xfrm>
          <a:prstGeom prst="rect">
            <a:avLst/>
          </a:prstGeom>
          <a:solidFill>
            <a:srgbClr val="5D7A9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623560" y="4023360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emprunts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23" name="Text 2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CS27 | BIT | 2025-2026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 Entities &amp; Attributes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6060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2606040" cy="384048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9728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auteurs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53619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auteur_id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847088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nom, prenom, nationalite, date_naissance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08960" y="1097280"/>
            <a:ext cx="26060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08960" y="1097280"/>
            <a:ext cx="2606040" cy="384048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11" name="Text 9"/>
          <p:cNvSpPr/>
          <p:nvPr/>
        </p:nvSpPr>
        <p:spPr>
          <a:xfrm>
            <a:off x="3108960" y="109728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0" y="153619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categorie_id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1847088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nom, description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0" y="1097280"/>
            <a:ext cx="26060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0" y="1097280"/>
            <a:ext cx="2606040" cy="384048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109728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35040" y="153619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livre_id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35040" y="1847088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titre, isbn, auteur_id (FK), categorie_id (FK), annee_publi, editeur, nb_exemplaires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645920" y="3063240"/>
            <a:ext cx="26060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645920" y="3063240"/>
            <a:ext cx="2606040" cy="384048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21" name="Text 19"/>
          <p:cNvSpPr/>
          <p:nvPr/>
        </p:nvSpPr>
        <p:spPr>
          <a:xfrm>
            <a:off x="1645920" y="306324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737360" y="350215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membre_id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737360" y="3813048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nom, prenom, email (UNIQUE), telephone, adresse, date_adhesion, actif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80560" y="3063240"/>
            <a:ext cx="26060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80560" y="3063240"/>
            <a:ext cx="2606040" cy="384048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26" name="Text 24"/>
          <p:cNvSpPr/>
          <p:nvPr/>
        </p:nvSpPr>
        <p:spPr>
          <a:xfrm>
            <a:off x="4480560" y="306324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emprunts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0" y="350215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emprunt_id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0" y="3813048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membre_id (FK), livre_id (FK), date_emprunt, date_retour_prevue, date_retour_reelle, amende_montant, amende_payee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30" name="Text 2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CS27 | BIT | 2025-2026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 Schema Diagram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97280"/>
            <a:ext cx="841248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6" name="Text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CS27 | BIT | 2025-2026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 Relationships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8412480" cy="201168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2194560"/>
                <a:gridCol w="310896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Relationship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Foreign Key in...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Plain English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auteurs → livres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1 : 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livres.auteur_id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One author can write many books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categories → livres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1 : 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livres.categorie_id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One category groups many books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membres → emprunts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1 : 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emprunts.membre_id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One member can borrow many books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livres → emprunts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1 : 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emprunts.livre_id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One book can be borrowed many times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3337560"/>
            <a:ext cx="8412480" cy="141732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" y="34290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Decisions: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379476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foreign keys use ON DELETE RESTRICT to protect data integrity.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UPDATE CASCADE ensures changes propagate automatically across related tables.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9" name="Text 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CS27 | BIT | 2025-2026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 Normalization (UNF → 3NF)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1920240" cy="356616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887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(Unnormalized)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920240"/>
            <a:ext cx="18288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big table with everything: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member_name, email, book_title,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author_name, borrow_date, fine...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clear primary key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Repeated data everywhere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057400" y="2560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9C12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423160" y="1143000"/>
            <a:ext cx="1920240" cy="3566160"/>
          </a:xfrm>
          <a:prstGeom prst="rect">
            <a:avLst/>
          </a:prstGeom>
          <a:solidFill>
            <a:srgbClr val="2E86C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23160" y="11887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68880" y="1920240"/>
            <a:ext cx="18288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 unique ID per row.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repeating groups.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Each cell = one atomic value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Primary key defined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06240" y="2560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9C12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0" y="1143000"/>
            <a:ext cx="1920240" cy="356616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11887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2NF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17720" y="1920240"/>
            <a:ext cx="18288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Separated members, books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authors into own tables.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Every attribute depends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fully on the whole PK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 partial dependencies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55080" y="2560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9C12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720840" y="1143000"/>
            <a:ext cx="1920240" cy="356616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20840" y="11887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 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66560" y="1920240"/>
            <a:ext cx="18288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Separated categories and fines.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 transitive dependencies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5 clean normalized tables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Final schema achieved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20" name="Text 1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CS27 | BIT | 2025-2026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 MySQL Implementation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029200" cy="365760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8872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emprunts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emprunt_id    INT  NOT NULL AUTO_INCREMENT,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membre_id     INT  NOT NULL,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livre_id      INT  NOT NULL,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date_emprunt  DATE NOT NULL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DEFAULT (CURRENT_DATE),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date_retour_prevue DATE NOT NULL,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date_retour_reelle DATE,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amende_montant DECIMAL(8,2) DEFAULT 0.00,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amende_payee   BOOLEAN DEFAULT FALSE,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PRIMARY KEY (emprunt_id),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(membre_id)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REFERENCES membres(membre_id)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 DELETE RESTRICT ON UPDATE CASCADE,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(livre_id)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REFERENCES livres(livre_id)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 DELETE RESTRICT ON UPDATE CASCADE,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CHECK (date_retour_prevue &gt; date_emprunt)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577840" y="1097280"/>
            <a:ext cx="32004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577840" y="1097280"/>
            <a:ext cx="91440" cy="59436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8" name="Text 6"/>
          <p:cNvSpPr/>
          <p:nvPr/>
        </p:nvSpPr>
        <p:spPr>
          <a:xfrm>
            <a:off x="5760720" y="11155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60720" y="138988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AUTO_INCREMENT on every table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577840" y="1801368"/>
            <a:ext cx="32004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577840" y="1801368"/>
            <a:ext cx="91440" cy="59436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2" name="Text 10"/>
          <p:cNvSpPr/>
          <p:nvPr/>
        </p:nvSpPr>
        <p:spPr>
          <a:xfrm>
            <a:off x="5760720" y="181965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60720" y="209397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integrity enforced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77840" y="2505456"/>
            <a:ext cx="32004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577840" y="2505456"/>
            <a:ext cx="91440" cy="59436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6" name="Text 14"/>
          <p:cNvSpPr/>
          <p:nvPr/>
        </p:nvSpPr>
        <p:spPr>
          <a:xfrm>
            <a:off x="5760720" y="252374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60720" y="279806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fields protected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77840" y="3209544"/>
            <a:ext cx="32004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577840" y="3209544"/>
            <a:ext cx="91440" cy="59436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0" name="Text 18"/>
          <p:cNvSpPr/>
          <p:nvPr/>
        </p:nvSpPr>
        <p:spPr>
          <a:xfrm>
            <a:off x="5760720" y="322783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760720" y="35021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constraint on dates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3913632"/>
            <a:ext cx="32004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577840" y="3913632"/>
            <a:ext cx="91440" cy="59436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4" name="Text 22"/>
          <p:cNvSpPr/>
          <p:nvPr/>
        </p:nvSpPr>
        <p:spPr>
          <a:xfrm>
            <a:off x="5760720" y="3931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60720" y="4206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email &amp; book ISBN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27" name="Text 2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CS27 | BIT | 2025-2026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Complex Query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Report: Members with unpaid fines over 200 FCFA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8412480" cy="246888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60020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m.nom, m.prenom, m.email,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COUNT(e.emprunt_id)                          AS total_borrowings,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SUM(e.amende_montant)                         AS total_fines,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SUM(CASE WHEN e.amende_payee = FALSE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THEN e.amende_montant ELSE 0 END)    AS unpaid_fines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membres 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 JOIN emprunts e ON m.membre_id = e.membre_id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e.amende_montant &gt;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m.membre_id, m.nom, m.prenom, m.email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unpaid_fines &gt; 200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unpaid_fines DESC;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4160520"/>
            <a:ext cx="1965960" cy="502920"/>
          </a:xfrm>
          <a:prstGeom prst="rect">
            <a:avLst/>
          </a:prstGeom>
          <a:solidFill>
            <a:srgbClr val="1E5FA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41605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 — Link members + borrowings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14600" y="4160520"/>
            <a:ext cx="1965960" cy="50292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0" y="41605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— Group results per member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4160520"/>
            <a:ext cx="1965960" cy="502920"/>
          </a:xfrm>
          <a:prstGeom prst="rect">
            <a:avLst/>
          </a:prstGeom>
          <a:solidFill>
            <a:srgbClr val="F39C1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41605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WHEN — Calculate only unpaid fines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812280" y="4160520"/>
            <a:ext cx="1965960" cy="50292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0" y="41605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— Filter groups (&gt; 200 FCFA)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16" name="Text 1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CS27 | BIT | 2025-2026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Deliverables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046720" cy="91440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109728" cy="9144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234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572768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library_db.sql + README.md — fully documented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8046720" cy="91440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286000"/>
            <a:ext cx="109728" cy="9144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331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2670048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slides covering design, normalization and implementation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8046720" cy="91440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383280"/>
            <a:ext cx="109728" cy="9144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429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Video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" y="3767328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5-10 min — Live MySQL demo — All members speak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480560"/>
            <a:ext cx="8046720" cy="411480"/>
          </a:xfrm>
          <a:prstGeom prst="rect">
            <a:avLst/>
          </a:prstGeom>
          <a:solidFill>
            <a:srgbClr val="F39C1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44805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Deadline: March 15, 2026 at 11:55 PM  |  Submit: Group Leader only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0" name="Text 1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CS27 — Burkina Institute of Technology | blebo.kweyakie@bit.bf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CS27 - Library Management System</dc:title>
  <dc:subject>PptxGenJS Presentation</dc:subject>
  <dc:creator>PptxGenJS</dc:creator>
  <cp:lastModifiedBy>PptxGenJS</cp:lastModifiedBy>
  <cp:revision>1</cp:revision>
  <dcterms:created xsi:type="dcterms:W3CDTF">2026-03-13T11:19:35Z</dcterms:created>
  <dcterms:modified xsi:type="dcterms:W3CDTF">2026-03-13T11:19:35Z</dcterms:modified>
</cp:coreProperties>
</file>